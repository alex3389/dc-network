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59" r:id="rId6"/>
    <p:sldId id="375" r:id="rId7"/>
    <p:sldId id="373" r:id="rId8"/>
    <p:sldId id="376" r:id="rId9"/>
    <p:sldId id="365" r:id="rId10"/>
    <p:sldId id="382" r:id="rId11"/>
    <p:sldId id="383" r:id="rId12"/>
    <p:sldId id="384" r:id="rId13"/>
    <p:sldId id="372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1" clrIdx="0">
    <p:extLst>
      <p:ext uri="{19B8F6BF-5375-455C-9EA6-DF929625EA0E}">
        <p15:presenceInfo xmlns:p15="http://schemas.microsoft.com/office/powerpoint/2012/main" userId="Ale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5388" autoAdjust="0"/>
  </p:normalViewPr>
  <p:slideViewPr>
    <p:cSldViewPr snapToGrid="0" snapToObjects="1" showGuides="1">
      <p:cViewPr varScale="1">
        <p:scale>
          <a:sx n="101" d="100"/>
          <a:sy n="101" d="100"/>
        </p:scale>
        <p:origin x="150" y="5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80" d="100"/>
          <a:sy n="80" d="100"/>
        </p:scale>
        <p:origin x="3996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170D80F0-0B6E-42C5-98A4-3D8F934A6F73}" type="datetime1">
              <a:rPr lang="ru-RU" smtClean="0"/>
              <a:t>04.08.2026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9E9D61A1-75D9-49F7-83EB-F5872642613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C95BFD6A-701E-4904-8222-6076900F364F}" type="datetime1">
              <a:rPr lang="ru-RU" smtClean="0"/>
              <a:pPr/>
              <a:t>04.08.2026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EF75CB5-5666-5049-9AE0-38EFD385C21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624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8565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177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Объект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Графический объект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ru-RU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ru-RU" sz="32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ru-RU" sz="24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ru-RU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2 столбц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Графический объект 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Графический объект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7" name="Графический объект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ru-RU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Рисунок 5" descr="Сине-лиловая спираль&#10;&#10;Автоматически созданное описание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Графический объект 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2" name="Графический объект 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3" name="Графический объект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Графический объект 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  <p:sp>
            <p:nvSpPr>
              <p:cNvPr id="10" name="Графический объект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21" name="Объект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Графический объект 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Графический объект 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Графический объект 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ru-RU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2" name="Заполнитель таблицы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9" name="Объект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ru-RU" sz="1800" spc="0"/>
            </a:lvl4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Заполнитель таблицы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ru-RU" sz="2400">
                <a:latin typeface="+mn-lt"/>
              </a:defRPr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18" name="Графический объект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pic>
          <p:nvPicPr>
            <p:cNvPr id="4" name="Объект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ru-RU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ru-RU" dirty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ru-RU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ru-RU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823678-7C14-453A-8D45-794E6FB22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56" y="112889"/>
            <a:ext cx="2359378" cy="10468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CE0DE5-26A2-494B-A698-9D17EA1C3F8E}"/>
              </a:ext>
            </a:extLst>
          </p:cNvPr>
          <p:cNvSpPr txBox="1"/>
          <p:nvPr/>
        </p:nvSpPr>
        <p:spPr>
          <a:xfrm>
            <a:off x="4701821" y="2099734"/>
            <a:ext cx="2788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Проектная работа</a:t>
            </a:r>
            <a:endParaRPr lang="ru-RU" b="0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0A29D-BA1F-4F4B-976D-5DCE2299FD91}"/>
              </a:ext>
            </a:extLst>
          </p:cNvPr>
          <p:cNvSpPr txBox="1"/>
          <p:nvPr/>
        </p:nvSpPr>
        <p:spPr>
          <a:xfrm>
            <a:off x="3855155" y="1358094"/>
            <a:ext cx="4481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Дизайн сетей ЦОД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DF310-F62C-47FE-9539-2D8C9C30DDF0}"/>
              </a:ext>
            </a:extLst>
          </p:cNvPr>
          <p:cNvSpPr txBox="1"/>
          <p:nvPr/>
        </p:nvSpPr>
        <p:spPr>
          <a:xfrm>
            <a:off x="1219200" y="2884451"/>
            <a:ext cx="9753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Тема: Проектирование </a:t>
            </a:r>
            <a:r>
              <a:rPr lang="ru-RU" sz="2800" b="1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мультиподовой</a:t>
            </a:r>
            <a:r>
              <a:rPr lang="ru-RU" sz="2800" b="1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сети ЦОД на базе технологии EVPN-VXLAN</a:t>
            </a:r>
            <a:endParaRPr lang="ru-RU" sz="28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CBAF7-352F-49E5-9876-D99A097A5051}"/>
              </a:ext>
            </a:extLst>
          </p:cNvPr>
          <p:cNvSpPr txBox="1"/>
          <p:nvPr/>
        </p:nvSpPr>
        <p:spPr>
          <a:xfrm>
            <a:off x="5747186" y="63064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2026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D7FCB9-D787-4FCD-8DE1-CA24925B970F}"/>
              </a:ext>
            </a:extLst>
          </p:cNvPr>
          <p:cNvSpPr txBox="1"/>
          <p:nvPr/>
        </p:nvSpPr>
        <p:spPr>
          <a:xfrm>
            <a:off x="8195734" y="5131275"/>
            <a:ext cx="376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Выполнил: Белобородов Алексей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044" y="1187805"/>
            <a:ext cx="2480732" cy="69444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Обо мне</a:t>
            </a:r>
          </a:p>
        </p:txBody>
      </p:sp>
      <p:sp>
        <p:nvSpPr>
          <p:cNvPr id="31" name="Текст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8989" y="2910861"/>
            <a:ext cx="4978398" cy="3673734"/>
          </a:xfrm>
        </p:spPr>
        <p:txBody>
          <a:bodyPr rtlCol="0" anchor="t"/>
          <a:lstStyle>
            <a:defPPr>
              <a:defRPr lang="ru-RU"/>
            </a:defPPr>
          </a:lstStyle>
          <a:p>
            <a:pPr rtl="0"/>
            <a:r>
              <a:rPr lang="ru-RU" dirty="0"/>
              <a:t>ФИО: Белобородов Алексей Сергеевич</a:t>
            </a:r>
          </a:p>
          <a:p>
            <a:pPr rtl="0"/>
            <a:r>
              <a:rPr lang="ru-RU" dirty="0"/>
              <a:t>Возраст: 38 лет</a:t>
            </a:r>
          </a:p>
          <a:p>
            <a:pPr rtl="0"/>
            <a:r>
              <a:rPr lang="ru-RU" dirty="0"/>
              <a:t>Образование: </a:t>
            </a:r>
            <a:r>
              <a:rPr lang="ru-RU" dirty="0" err="1"/>
              <a:t>СибГУТИ</a:t>
            </a:r>
            <a:r>
              <a:rPr lang="ru-RU" dirty="0"/>
              <a:t>, Бакалавр</a:t>
            </a:r>
          </a:p>
          <a:p>
            <a:pPr rtl="0"/>
            <a:r>
              <a:rPr lang="ru-RU" dirty="0"/>
              <a:t>Факультет: Инфокоммуникационные технологии и системы связи</a:t>
            </a:r>
          </a:p>
          <a:p>
            <a:pPr rtl="0"/>
            <a:r>
              <a:rPr lang="ru-RU" dirty="0"/>
              <a:t>Место работы: Кей Поинт Новосибирск</a:t>
            </a:r>
          </a:p>
          <a:p>
            <a:pPr rtl="0"/>
            <a:r>
              <a:rPr lang="ru-RU" dirty="0"/>
              <a:t>Должность: Системный администратор ЦОД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4959B3-7F6D-446F-8965-5F2127593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2" y="77778"/>
            <a:ext cx="1734257" cy="76946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4EBC3B-91BD-47BC-B6FD-4B7FAE8D41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721"/>
          <a:stretch/>
        </p:blipFill>
        <p:spPr>
          <a:xfrm>
            <a:off x="6852355" y="949736"/>
            <a:ext cx="4549422" cy="527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069" y="587126"/>
            <a:ext cx="7420819" cy="94805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Оборудование для проекта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27AC08-382C-40D4-A7BF-05D236C9D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99" y="2905592"/>
            <a:ext cx="2359378" cy="10468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D2EB3A-1EA5-48A1-BFEA-6195963BA96D}"/>
              </a:ext>
            </a:extLst>
          </p:cNvPr>
          <p:cNvSpPr txBox="1"/>
          <p:nvPr/>
        </p:nvSpPr>
        <p:spPr>
          <a:xfrm>
            <a:off x="3986000" y="4841242"/>
            <a:ext cx="6096000" cy="1702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Arista (</a:t>
            </a:r>
            <a:r>
              <a:rPr lang="en-US" dirty="0" err="1">
                <a:solidFill>
                  <a:schemeClr val="bg1"/>
                </a:solidFill>
              </a:rPr>
              <a:t>vEOS</a:t>
            </a:r>
            <a:r>
              <a:rPr lang="en-US" dirty="0">
                <a:solidFill>
                  <a:schemeClr val="bg1"/>
                </a:solidFill>
              </a:rPr>
              <a:t>-lab, EOS-4.29.2F)</a:t>
            </a:r>
            <a:endParaRPr lang="ru-RU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Cisco Nexus (Nexus9000 C9300v)</a:t>
            </a:r>
            <a:endParaRPr lang="ru-RU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Juniper </a:t>
            </a:r>
            <a:r>
              <a:rPr lang="en-US" dirty="0" err="1">
                <a:solidFill>
                  <a:schemeClr val="bg1"/>
                </a:solidFill>
              </a:rPr>
              <a:t>vMX</a:t>
            </a:r>
            <a:r>
              <a:rPr lang="en-US" dirty="0">
                <a:solidFill>
                  <a:schemeClr val="bg1"/>
                </a:solidFill>
              </a:rPr>
              <a:t> (vmx-14.1R4.8-domestic)</a:t>
            </a:r>
            <a:endParaRPr lang="ru-RU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VPCS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B9DB5-BD11-42C3-AC4D-DC165800B7F4}"/>
              </a:ext>
            </a:extLst>
          </p:cNvPr>
          <p:cNvSpPr txBox="1"/>
          <p:nvPr/>
        </p:nvSpPr>
        <p:spPr>
          <a:xfrm>
            <a:off x="3318933" y="2262050"/>
            <a:ext cx="8263467" cy="253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Процессор: </a:t>
            </a:r>
            <a:r>
              <a:rPr lang="pt-BR" dirty="0">
                <a:solidFill>
                  <a:schemeClr val="bg1"/>
                </a:solidFill>
              </a:rPr>
              <a:t>Intel(R) Xeon(R) Silver 4310 CPU @ 2.10GHz (2.10 GHz)</a:t>
            </a:r>
            <a:endParaRPr lang="ru-RU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Оперативная память: 64 ГБ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Операционная система: </a:t>
            </a:r>
            <a:r>
              <a:rPr lang="en-US" dirty="0">
                <a:solidFill>
                  <a:schemeClr val="bg1"/>
                </a:solidFill>
              </a:rPr>
              <a:t>Windows 11 pro</a:t>
            </a:r>
            <a:endParaRPr lang="ru-RU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Система виртуализации: </a:t>
            </a:r>
            <a:r>
              <a:rPr lang="en-US" dirty="0">
                <a:solidFill>
                  <a:schemeClr val="bg1"/>
                </a:solidFill>
              </a:rPr>
              <a:t>VMware Workstation 17 Pro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Образ стенда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PNETLab</a:t>
            </a:r>
            <a:endParaRPr lang="ru-RU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Образы оборудования:</a:t>
            </a: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B143DD3-1CD0-4BA3-923E-4CF77825DDAC}"/>
              </a:ext>
            </a:extLst>
          </p:cNvPr>
          <p:cNvSpPr txBox="1"/>
          <p:nvPr/>
        </p:nvSpPr>
        <p:spPr>
          <a:xfrm>
            <a:off x="654755" y="1997929"/>
            <a:ext cx="1091635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Спроектировать и собрать схему двух Центров Обработки Данных </a:t>
            </a:r>
            <a:r>
              <a:rPr lang="ru-RU" sz="2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и объед</a:t>
            </a:r>
            <a:r>
              <a:rPr lang="ru-RU" sz="2800">
                <a:solidFill>
                  <a:srgbClr val="BBBEBF"/>
                </a:solidFill>
                <a:latin typeface="Consolas" panose="020B0609020204030204" pitchFamily="49" charset="0"/>
              </a:rPr>
              <a:t>и</a:t>
            </a:r>
            <a:r>
              <a:rPr lang="ru-RU" sz="2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нить </a:t>
            </a:r>
            <a:r>
              <a:rPr lang="ru-RU" sz="2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их по технологии </a:t>
            </a:r>
            <a:r>
              <a:rPr lang="ru-RU" sz="2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Multipod</a:t>
            </a:r>
            <a:r>
              <a:rPr lang="ru-RU" sz="2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algn="just"/>
            <a:r>
              <a:rPr lang="ru-RU" sz="2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Схемы должны быть спроектированы на базе архитектуры </a:t>
            </a:r>
            <a:r>
              <a:rPr lang="ru-RU" sz="2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Spine-Leaf</a:t>
            </a:r>
            <a:r>
              <a:rPr lang="ru-RU" sz="2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Объединяющие устройства </a:t>
            </a:r>
            <a:r>
              <a:rPr lang="ru-RU" sz="2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Border-leaf</a:t>
            </a:r>
            <a:r>
              <a:rPr lang="ru-RU" sz="2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в каждом ЦОД должны быть соединены через условную сеть провайдера с помощью технологии VPLS. Обеспечить отказоустойчивое подключение клиентского оборудования (хостов) в каждом ЦОД.</a:t>
            </a:r>
          </a:p>
          <a:p>
            <a:pPr algn="just"/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973C331-0095-4B67-AC91-3F3E1866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33" y="621096"/>
            <a:ext cx="10295467" cy="94805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solidFill>
                  <a:srgbClr val="00B0F0"/>
                </a:solidFill>
              </a:rPr>
              <a:t>Цель проекта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D8C4538-C30E-4AF5-B60E-C02E885B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283" y="372468"/>
            <a:ext cx="1966999" cy="79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AF812F-61D8-471C-86ED-A41C236BA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8257" y="157876"/>
            <a:ext cx="1966999" cy="790391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3FBAD169-8014-4652-8A9A-668C22044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975" y="1116543"/>
            <a:ext cx="3583517" cy="62088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solidFill>
                  <a:srgbClr val="00B0F0"/>
                </a:solidFill>
              </a:rPr>
              <a:t>Почему </a:t>
            </a:r>
            <a:r>
              <a:rPr lang="en-US" dirty="0">
                <a:solidFill>
                  <a:srgbClr val="00B0F0"/>
                </a:solidFill>
              </a:rPr>
              <a:t>VPLS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65F4D-0FF6-434E-9870-F5C13029C0C5}"/>
              </a:ext>
            </a:extLst>
          </p:cNvPr>
          <p:cNvSpPr txBox="1"/>
          <p:nvPr/>
        </p:nvSpPr>
        <p:spPr>
          <a:xfrm>
            <a:off x="1943099" y="2182595"/>
            <a:ext cx="9761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Технология VPLS (Virtual Private LAN Service) выбирается для объединения удаленных офисов или узлов связи в единую виртуальную сеть второго уровня (Layer 2), обеспечивая общую прозрачную среду Ethernet, полный контроль над маршрутизацией и простую работу с сетевыми протоколами.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7CDFD-8690-4E36-A9D1-289C1302F482}"/>
              </a:ext>
            </a:extLst>
          </p:cNvPr>
          <p:cNvSpPr txBox="1"/>
          <p:nvPr/>
        </p:nvSpPr>
        <p:spPr>
          <a:xfrm>
            <a:off x="1943099" y="3715931"/>
            <a:ext cx="97613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Главные плюсы </a:t>
            </a:r>
            <a:r>
              <a:rPr lang="en-US" dirty="0">
                <a:solidFill>
                  <a:schemeClr val="bg1"/>
                </a:solidFill>
              </a:rPr>
              <a:t>VPLS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pPr algn="just"/>
            <a:endParaRPr lang="ru-RU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Эмуляция </a:t>
            </a:r>
            <a:r>
              <a:rPr lang="en-US" dirty="0">
                <a:solidFill>
                  <a:schemeClr val="bg1"/>
                </a:solidFill>
              </a:rPr>
              <a:t>LAN</a:t>
            </a:r>
            <a:r>
              <a:rPr lang="ru-RU" dirty="0">
                <a:solidFill>
                  <a:schemeClr val="bg1"/>
                </a:solidFill>
              </a:rPr>
              <a:t> – Объединение географически разнесенных узлов связи так в единую </a:t>
            </a:r>
            <a:r>
              <a:rPr lang="en-US" dirty="0">
                <a:solidFill>
                  <a:schemeClr val="bg1"/>
                </a:solidFill>
              </a:rPr>
              <a:t>LAN </a:t>
            </a:r>
            <a:r>
              <a:rPr lang="ru-RU" dirty="0">
                <a:solidFill>
                  <a:schemeClr val="bg1"/>
                </a:solidFill>
              </a:rPr>
              <a:t>сеть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Прозрачность трафика: Передача любых протоколов и типов пакетов, так как сеть работает на канальном уровне (L2).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«Точка-</a:t>
            </a:r>
            <a:r>
              <a:rPr lang="ru-RU" dirty="0" err="1">
                <a:solidFill>
                  <a:schemeClr val="bg1"/>
                </a:solidFill>
              </a:rPr>
              <a:t>многоточка</a:t>
            </a:r>
            <a:r>
              <a:rPr lang="ru-RU" dirty="0">
                <a:solidFill>
                  <a:schemeClr val="bg1"/>
                </a:solidFill>
              </a:rPr>
              <a:t>» -  VPLS соединяет множество точек в кольцо или звезду (многоточечная связь), а не просто два узла связи между собой, что максимально удобно при расширении и масштабировании сети ЦОД</a:t>
            </a: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9598FB8-9B16-4943-86DA-265C19DD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83537"/>
            <a:ext cx="6327105" cy="605084"/>
          </a:xfrm>
        </p:spPr>
        <p:txBody>
          <a:bodyPr/>
          <a:lstStyle/>
          <a:p>
            <a:r>
              <a:rPr lang="ru-RU" dirty="0"/>
              <a:t>Схема сети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5CD7AD1-241B-4265-9A67-33E63C60A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45" y="642907"/>
            <a:ext cx="10318043" cy="62009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BC389C-FA09-4086-A431-FB424959F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9" y="78554"/>
            <a:ext cx="1416872" cy="5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973C331-0095-4B67-AC91-3F3E1866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262" y="459171"/>
            <a:ext cx="8373309" cy="40629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>
                <a:solidFill>
                  <a:srgbClr val="00B0F0"/>
                </a:solidFill>
              </a:rPr>
              <a:t>Проверка корректность работы </a:t>
            </a:r>
            <a:r>
              <a:rPr lang="en-US" sz="2400" dirty="0">
                <a:solidFill>
                  <a:srgbClr val="00B0F0"/>
                </a:solidFill>
              </a:rPr>
              <a:t>EVPN</a:t>
            </a:r>
            <a:endParaRPr lang="ru-RU" sz="2400" dirty="0">
              <a:solidFill>
                <a:srgbClr val="00B0F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D8C4538-C30E-4AF5-B60E-C02E885B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6" y="344266"/>
            <a:ext cx="1306482" cy="52497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932351-44C3-484B-80AE-DB6A9EF3DA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47" b="5563"/>
          <a:stretch/>
        </p:blipFill>
        <p:spPr>
          <a:xfrm>
            <a:off x="497826" y="923925"/>
            <a:ext cx="6773220" cy="13740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62CA9D-C3C6-4B02-BA00-0967A39FE8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650"/>
          <a:stretch/>
        </p:blipFill>
        <p:spPr>
          <a:xfrm>
            <a:off x="497826" y="3681588"/>
            <a:ext cx="6897063" cy="13740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24A644-4A00-4F47-B180-9D1D94D2A90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24" b="12049"/>
          <a:stretch/>
        </p:blipFill>
        <p:spPr>
          <a:xfrm>
            <a:off x="4657706" y="2297994"/>
            <a:ext cx="7163800" cy="13502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5E8D7C0-4C2D-4394-B1AB-039BD1CD8EA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181" b="5907"/>
          <a:stretch/>
        </p:blipFill>
        <p:spPr>
          <a:xfrm>
            <a:off x="4867286" y="5069945"/>
            <a:ext cx="695422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50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973C331-0095-4B67-AC91-3F3E1866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345" y="464919"/>
            <a:ext cx="8373309" cy="40629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>
                <a:solidFill>
                  <a:srgbClr val="00B0F0"/>
                </a:solidFill>
              </a:rPr>
              <a:t>Проверка связности</a:t>
            </a:r>
            <a:r>
              <a:rPr lang="en-US" sz="2400" dirty="0">
                <a:solidFill>
                  <a:srgbClr val="00B0F0"/>
                </a:solidFill>
              </a:rPr>
              <a:t> EVPN </a:t>
            </a:r>
            <a:r>
              <a:rPr lang="ru-RU" sz="2400" dirty="0">
                <a:solidFill>
                  <a:srgbClr val="00B0F0"/>
                </a:solidFill>
              </a:rPr>
              <a:t>через </a:t>
            </a:r>
            <a:r>
              <a:rPr lang="en-US" sz="2400" dirty="0">
                <a:solidFill>
                  <a:srgbClr val="00B0F0"/>
                </a:solidFill>
              </a:rPr>
              <a:t>VPLS</a:t>
            </a:r>
            <a:endParaRPr lang="ru-RU" sz="2400" dirty="0">
              <a:solidFill>
                <a:srgbClr val="00B0F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D8C4538-C30E-4AF5-B60E-C02E885B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566" y="344266"/>
            <a:ext cx="1306482" cy="5249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B8E58E-BFF2-4751-9794-25B2B24E5F24}"/>
              </a:ext>
            </a:extLst>
          </p:cNvPr>
          <p:cNvSpPr txBox="1"/>
          <p:nvPr/>
        </p:nvSpPr>
        <p:spPr>
          <a:xfrm>
            <a:off x="2973341" y="2214740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POD-1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75DD7-7498-4029-B970-C3BE5D33092E}"/>
              </a:ext>
            </a:extLst>
          </p:cNvPr>
          <p:cNvSpPr txBox="1"/>
          <p:nvPr/>
        </p:nvSpPr>
        <p:spPr>
          <a:xfrm>
            <a:off x="8508527" y="1344642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POD-2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B498EEF-D3CB-462F-B8B4-EF5D42ACC9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07"/>
          <a:stretch/>
        </p:blipFill>
        <p:spPr>
          <a:xfrm>
            <a:off x="332485" y="2584072"/>
            <a:ext cx="5708375" cy="367167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FE2B26C-B5AD-44FC-A6F9-E2A77F090B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99"/>
          <a:stretch/>
        </p:blipFill>
        <p:spPr>
          <a:xfrm>
            <a:off x="6095999" y="1733097"/>
            <a:ext cx="5708696" cy="3671676"/>
          </a:xfrm>
          <a:prstGeom prst="rect">
            <a:avLst/>
          </a:prstGeom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60003EBB-DE87-46A4-83DA-394B02CFE697}"/>
              </a:ext>
            </a:extLst>
          </p:cNvPr>
          <p:cNvCxnSpPr>
            <a:cxnSpLocks/>
          </p:cNvCxnSpPr>
          <p:nvPr/>
        </p:nvCxnSpPr>
        <p:spPr>
          <a:xfrm>
            <a:off x="326980" y="4756150"/>
            <a:ext cx="17208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20379E7-E939-4D0C-8369-BA9A8995C4FA}"/>
              </a:ext>
            </a:extLst>
          </p:cNvPr>
          <p:cNvCxnSpPr>
            <a:cxnSpLocks/>
          </p:cNvCxnSpPr>
          <p:nvPr/>
        </p:nvCxnSpPr>
        <p:spPr>
          <a:xfrm>
            <a:off x="6095999" y="4597400"/>
            <a:ext cx="16954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Облачко с текстом: прямоугольное 28">
            <a:extLst>
              <a:ext uri="{FF2B5EF4-FFF2-40B4-BE49-F238E27FC236}">
                <a16:creationId xmlns:a16="http://schemas.microsoft.com/office/drawing/2014/main" id="{FA6A8B0F-1F09-4010-8587-B016E3E395A8}"/>
              </a:ext>
            </a:extLst>
          </p:cNvPr>
          <p:cNvSpPr/>
          <p:nvPr/>
        </p:nvSpPr>
        <p:spPr>
          <a:xfrm>
            <a:off x="8220075" y="5274086"/>
            <a:ext cx="2586566" cy="980280"/>
          </a:xfrm>
          <a:prstGeom prst="wedgeRectCallout">
            <a:avLst>
              <a:gd name="adj1" fmla="val -67708"/>
              <a:gd name="adj2" fmla="val -114739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Указан сосед с </a:t>
            </a:r>
            <a:r>
              <a:rPr lang="en-US" dirty="0"/>
              <a:t>IP</a:t>
            </a:r>
            <a:r>
              <a:rPr lang="ru-RU" dirty="0"/>
              <a:t> адресом из соседней </a:t>
            </a:r>
            <a:r>
              <a:rPr lang="en-US" dirty="0"/>
              <a:t>AS 65000 </a:t>
            </a:r>
            <a:endParaRPr lang="ru-RU" dirty="0"/>
          </a:p>
        </p:txBody>
      </p:sp>
      <p:sp>
        <p:nvSpPr>
          <p:cNvPr id="32" name="Облачко с текстом: прямоугольное 31">
            <a:extLst>
              <a:ext uri="{FF2B5EF4-FFF2-40B4-BE49-F238E27FC236}">
                <a16:creationId xmlns:a16="http://schemas.microsoft.com/office/drawing/2014/main" id="{1B676F75-1BCB-40C3-9FB9-09CABDDE29A0}"/>
              </a:ext>
            </a:extLst>
          </p:cNvPr>
          <p:cNvSpPr/>
          <p:nvPr/>
        </p:nvSpPr>
        <p:spPr>
          <a:xfrm>
            <a:off x="746540" y="1225376"/>
            <a:ext cx="2586566" cy="980280"/>
          </a:xfrm>
          <a:prstGeom prst="wedgeRectCallout">
            <a:avLst>
              <a:gd name="adj1" fmla="val 50"/>
              <a:gd name="adj2" fmla="val 30404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Указан сосед с </a:t>
            </a:r>
            <a:r>
              <a:rPr lang="en-US" dirty="0"/>
              <a:t>IP</a:t>
            </a:r>
            <a:r>
              <a:rPr lang="ru-RU" dirty="0"/>
              <a:t> адресом из соседней </a:t>
            </a:r>
            <a:r>
              <a:rPr lang="en-US" dirty="0"/>
              <a:t>AS 65200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240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973C331-0095-4B67-AC91-3F3E1866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262" y="459171"/>
            <a:ext cx="8373309" cy="40629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>
                <a:solidFill>
                  <a:srgbClr val="00B0F0"/>
                </a:solidFill>
              </a:rPr>
              <a:t>Проверка </a:t>
            </a:r>
            <a:r>
              <a:rPr lang="en-US" sz="2400" dirty="0">
                <a:solidFill>
                  <a:srgbClr val="00B0F0"/>
                </a:solidFill>
              </a:rPr>
              <a:t>L3 </a:t>
            </a:r>
            <a:r>
              <a:rPr lang="ru-RU" sz="2400" dirty="0">
                <a:solidFill>
                  <a:srgbClr val="00B0F0"/>
                </a:solidFill>
              </a:rPr>
              <a:t>связности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D8C4538-C30E-4AF5-B60E-C02E885B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566" y="344266"/>
            <a:ext cx="1306482" cy="52497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0719F9-3F1F-4435-AA4C-136E5E8663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7"/>
          <a:stretch/>
        </p:blipFill>
        <p:spPr>
          <a:xfrm>
            <a:off x="4529249" y="1918174"/>
            <a:ext cx="3482341" cy="44806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ABD030-FF98-46A6-861F-B4B0BDD2E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855" y="1088681"/>
            <a:ext cx="4006489" cy="37389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6F1876-1BA9-4AFD-8A46-D3EEA87FA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288" y="2851575"/>
            <a:ext cx="3710346" cy="3662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EFA2A1-97B2-4E0C-ADE7-E3FF6023CC73}"/>
              </a:ext>
            </a:extLst>
          </p:cNvPr>
          <p:cNvSpPr txBox="1"/>
          <p:nvPr/>
        </p:nvSpPr>
        <p:spPr>
          <a:xfrm>
            <a:off x="1803895" y="719349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POD-1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8E58E-BFF2-4751-9794-25B2B24E5F24}"/>
              </a:ext>
            </a:extLst>
          </p:cNvPr>
          <p:cNvSpPr txBox="1"/>
          <p:nvPr/>
        </p:nvSpPr>
        <p:spPr>
          <a:xfrm>
            <a:off x="9564641" y="2376699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POD-2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75DD7-7498-4029-B970-C3BE5D33092E}"/>
              </a:ext>
            </a:extLst>
          </p:cNvPr>
          <p:cNvSpPr txBox="1"/>
          <p:nvPr/>
        </p:nvSpPr>
        <p:spPr>
          <a:xfrm>
            <a:off x="5212360" y="1548431"/>
            <a:ext cx="1826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POD-1 – POD-2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942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86" y="1323974"/>
            <a:ext cx="2104464" cy="9867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Вывод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000" y="3079120"/>
            <a:ext cx="5588000" cy="230250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Проект был разработан и реализован согласно поставленной задачи. Связность между VM (виртуальными машинами) и Хостами как внутри одного пода так и между ними реализована. Отказоустойчивое подключение хостов по технологии </a:t>
            </a:r>
            <a:r>
              <a:rPr lang="en-US" dirty="0"/>
              <a:t>Multihoming</a:t>
            </a:r>
            <a:r>
              <a:rPr lang="ru-RU" dirty="0"/>
              <a:t> выполнено.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8911C8-688D-4B53-A172-9F707E11F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675" y="3429000"/>
            <a:ext cx="1664198" cy="66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608_TF11936837_Win32.potx" id="{B72F49F3-09E2-4865-8A2A-AA9B2A757565}" vid="{A5849C83-848C-4432-B41C-6248F8F45B6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для результатов научных исследований</Template>
  <TotalTime>136</TotalTime>
  <Words>377</Words>
  <Application>Microsoft Office PowerPoint</Application>
  <PresentationFormat>Широкоэкранный</PresentationFormat>
  <Paragraphs>56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Arial Nova</vt:lpstr>
      <vt:lpstr>Biome</vt:lpstr>
      <vt:lpstr>Calibri</vt:lpstr>
      <vt:lpstr>Consolas</vt:lpstr>
      <vt:lpstr>Wingdings</vt:lpstr>
      <vt:lpstr>Пользовательская</vt:lpstr>
      <vt:lpstr>Презентация PowerPoint</vt:lpstr>
      <vt:lpstr>Обо мне</vt:lpstr>
      <vt:lpstr>Оборудование для проекта</vt:lpstr>
      <vt:lpstr>Цель проекта</vt:lpstr>
      <vt:lpstr>Почему VPLS</vt:lpstr>
      <vt:lpstr>Схема сети </vt:lpstr>
      <vt:lpstr>Проверка корректность работы EVPN</vt:lpstr>
      <vt:lpstr>Проверка связности EVPN через VPLS</vt:lpstr>
      <vt:lpstr>Проверка L3 связности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</dc:creator>
  <cp:lastModifiedBy>Alex</cp:lastModifiedBy>
  <cp:revision>13</cp:revision>
  <dcterms:created xsi:type="dcterms:W3CDTF">2026-08-04T06:42:00Z</dcterms:created>
  <dcterms:modified xsi:type="dcterms:W3CDTF">2026-08-04T08:58:32Z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